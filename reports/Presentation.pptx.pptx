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5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AFC1-6BCD-463B-83CD-31AD369534F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A6165-4636-49FC-A4EC-2738B5855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50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A6165-4636-49FC-A4EC-2738B58553F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47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A6165-4636-49FC-A4EC-2738B58553F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34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BC61-700F-D9CF-FDCD-FA96B531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0FF3C-249B-CC19-C928-29DEA1AF8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3C1DA-8CD3-5A9C-6408-951626C65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43A9A-E02A-19FA-9827-573A53B3D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A6165-4636-49FC-A4EC-2738B58553F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8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0454-2D7A-112B-5E6D-BEFCD6F2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76044-8D60-F946-343C-DAACF6B9E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A88F6-E5FD-5720-F51F-672391376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250C2-A402-BD6C-830B-AE0A14A6C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A6165-4636-49FC-A4EC-2738B58553F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11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EA42-064A-A292-DB87-91CC2AD3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B4087-71E9-5C23-0335-F9B8063DE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CCDF4-69C0-336C-6F9F-DE33A748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FBED9-3806-99CF-78ED-1430956C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1C517-6CBD-D2CE-FD48-BF685F45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48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F0A3-1FA2-82AD-06AA-20CA4D0F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B65C-8AA3-5899-7357-F0213A07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93E69-A175-027F-7FF8-1CF180A3B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0DE53-B498-447D-10DB-FD9259E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E9FB9-9303-F8D4-1A73-6D1C68E1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79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8006-601E-4D26-5396-6C0F4F49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8BF5D-A499-4138-7C98-97B1F1EE2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6F878-4EE8-3E25-224D-F258DD66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58DB3-EFE0-E5E5-12E3-5BBDB50F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DECCD-A924-E1F1-F60F-A6843FDA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2D28-2295-B74B-73FE-5E84309F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8F14-55C3-2B22-3D59-3ADE6407E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9E945-A593-1434-6CE6-4AB10EE9A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4DE80-1C0E-DA97-2847-FA6B865A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B92A7-5FFD-19E6-D519-6842E836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366EB-147C-38B9-E6D4-B3A67B14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0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41F6-5F2B-6F63-B617-5AF168B0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D7F5-6B42-662E-51E5-BDCCCDCC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7CB70-C73D-224D-4746-13402587A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F862DA-3F25-1317-95DB-CA9CA91E2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2CF68-C1F1-CF6C-3A57-6D34D4528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5925D6-DF72-716C-1B8E-BD8400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B6A96-3FE2-BBA1-2C71-98E05346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D68F6-FE6C-BED1-2E9D-E64250F2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7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A518-D213-8FC4-665D-2FF7E687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F4A61-2709-45CB-F0D2-BF0ED8D1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CD16A-8F3C-459C-11E3-2C555367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F2445-777C-FA18-A6D2-B7447DEA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9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449EA-7801-B3C3-7FC9-8BC1802C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2FDA4-FC8B-F697-2522-C617079D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3EB90-2E15-D8FD-4F54-A97E7745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39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8E08-3ED4-DF0B-925F-2B16E7BA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E3F3-0D72-98B9-DBD0-0D71A55BE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81BDC-1400-F89C-C3D8-E452FB0AD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F0346-FEB2-27B6-8AE0-62EDFB9D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790A2-25AD-D36B-F6EA-CB955A99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6B74C-3AE7-4DB6-75AC-0400EC34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4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DDBF-FB52-9323-7464-1165C5D5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0D176-3F26-11FE-B2E3-88CB7C65E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25D9-0583-907D-ECF3-EBA34650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7514D-A98E-4505-C818-E1C5A4E0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920C4-F5C0-68B3-6518-26FA116C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2A563-BD82-08AD-F54E-02C2A2F5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34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DE9C-CDFE-557F-82A3-90E84C16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7A741-9064-DF7C-D812-99D8C122F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3AD8E-4900-0D82-023A-FA9D0BF6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204F7-5B32-4F46-918B-321E6574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0A33F-1B3A-A701-BF40-6D1A855D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80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ABB53-26B4-71C6-073A-77BB352D6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62246-44E2-4507-0341-91951652D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ABBB8-5028-D241-7248-C13EBF16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77744-3C94-A0D3-A0DD-E8D09C1A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ADB3-9D03-9B71-33DE-A4BCBAF7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7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7841B-A6E7-4552-324A-1D7EEC389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85854-A2AF-3870-3CBE-AAB7C9FB4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2CFD3-5312-83C7-7F1E-DCD2A7FD2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F28BF-6799-4A02-BFFD-06103F996F7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DEB34-B02B-95CD-62F6-9DD6E8531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0089B-019D-5784-323E-CEB74AAC2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D9F0-33A2-4CC5-A2A9-09A57725A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57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Akshat-1508/bluestock_mf_capston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3D5C9-EA67-F09F-25A2-E2EB3CA1D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5" y="55466"/>
            <a:ext cx="10203799" cy="68025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D7BCCD-D4F2-542A-9D7F-3DC399DA002B}"/>
              </a:ext>
            </a:extLst>
          </p:cNvPr>
          <p:cNvSpPr/>
          <p:nvPr/>
        </p:nvSpPr>
        <p:spPr>
          <a:xfrm>
            <a:off x="3700222" y="3336844"/>
            <a:ext cx="4899992" cy="8201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1B32D-F719-E214-4A18-987A50FD69A2}"/>
              </a:ext>
            </a:extLst>
          </p:cNvPr>
          <p:cNvSpPr/>
          <p:nvPr/>
        </p:nvSpPr>
        <p:spPr>
          <a:xfrm>
            <a:off x="8550111" y="2535203"/>
            <a:ext cx="490194" cy="5756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6C09A-ACD9-2983-E4C2-40CBBDB855B5}"/>
              </a:ext>
            </a:extLst>
          </p:cNvPr>
          <p:cNvSpPr/>
          <p:nvPr/>
        </p:nvSpPr>
        <p:spPr>
          <a:xfrm>
            <a:off x="2325234" y="2057769"/>
            <a:ext cx="2234153" cy="443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8C9F9A-D05A-265D-1273-E4A2B76B0BCE}"/>
              </a:ext>
            </a:extLst>
          </p:cNvPr>
          <p:cNvSpPr/>
          <p:nvPr/>
        </p:nvSpPr>
        <p:spPr>
          <a:xfrm>
            <a:off x="4833657" y="1997124"/>
            <a:ext cx="2234153" cy="443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CE7C9-F7BE-DE05-0DE7-F8E8129C40FB}"/>
              </a:ext>
            </a:extLst>
          </p:cNvPr>
          <p:cNvSpPr/>
          <p:nvPr/>
        </p:nvSpPr>
        <p:spPr>
          <a:xfrm>
            <a:off x="7489414" y="1980544"/>
            <a:ext cx="2234153" cy="443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E0A09-A612-E6EF-5F6F-42291A029819}"/>
              </a:ext>
            </a:extLst>
          </p:cNvPr>
          <p:cNvSpPr txBox="1"/>
          <p:nvPr/>
        </p:nvSpPr>
        <p:spPr>
          <a:xfrm>
            <a:off x="1972948" y="2090840"/>
            <a:ext cx="2234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Akshat Bansal (2nd year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AC8D8-33E5-76B9-A628-9D06CEEC671E}"/>
              </a:ext>
            </a:extLst>
          </p:cNvPr>
          <p:cNvSpPr txBox="1"/>
          <p:nvPr/>
        </p:nvSpPr>
        <p:spPr>
          <a:xfrm>
            <a:off x="4173142" y="2085948"/>
            <a:ext cx="270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Saksham </a:t>
            </a:r>
            <a:r>
              <a:rPr lang="en-US" dirty="0" err="1">
                <a:solidFill>
                  <a:schemeClr val="bg1"/>
                </a:solidFill>
                <a:latin typeface="Agency FB" panose="020B0503020202020204" pitchFamily="34" charset="0"/>
              </a:rPr>
              <a:t>Mawari</a:t>
            </a: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 (2nd year)</a:t>
            </a:r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D29469-D1AB-3B52-6049-FBC418570141}"/>
              </a:ext>
            </a:extLst>
          </p:cNvPr>
          <p:cNvSpPr txBox="1"/>
          <p:nvPr/>
        </p:nvSpPr>
        <p:spPr>
          <a:xfrm>
            <a:off x="8532796" y="2082062"/>
            <a:ext cx="241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Kushal Gurjar(2nd year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1028" name="Picture 4" descr="Pinecone · GitHub">
            <a:extLst>
              <a:ext uri="{FF2B5EF4-FFF2-40B4-BE49-F238E27FC236}">
                <a16:creationId xmlns:a16="http://schemas.microsoft.com/office/drawing/2014/main" id="{CB4B88FC-3009-B765-A726-2A703CB61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399" y="2535203"/>
            <a:ext cx="641631" cy="64163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™">
            <a:extLst>
              <a:ext uri="{FF2B5EF4-FFF2-40B4-BE49-F238E27FC236}">
                <a16:creationId xmlns:a16="http://schemas.microsoft.com/office/drawing/2014/main" id="{EA7477DD-99EF-A97C-70C1-C6B95021A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491"/>
          <a:stretch>
            <a:fillRect/>
          </a:stretch>
        </p:blipFill>
        <p:spPr bwMode="auto">
          <a:xfrm>
            <a:off x="5634512" y="2529225"/>
            <a:ext cx="612743" cy="6535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AAF1D7-5519-1434-012C-5803FB94DE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20" t="10983" r="11262" b="6270"/>
          <a:stretch>
            <a:fillRect/>
          </a:stretch>
        </p:blipFill>
        <p:spPr>
          <a:xfrm>
            <a:off x="6476336" y="685409"/>
            <a:ext cx="616226" cy="6535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90F608-BDF7-93C4-430D-F684716C7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5580" y="2469153"/>
            <a:ext cx="772056" cy="78680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0F09F3B-3DBB-1B4D-F8E0-8AA68EEEBA17}"/>
              </a:ext>
            </a:extLst>
          </p:cNvPr>
          <p:cNvSpPr/>
          <p:nvPr/>
        </p:nvSpPr>
        <p:spPr>
          <a:xfrm>
            <a:off x="1586948" y="346089"/>
            <a:ext cx="9483365" cy="9235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latin typeface="Agency FB" panose="020B0503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3FA9B-6674-882B-B7B9-5AAFCCD2E5A2}"/>
              </a:ext>
            </a:extLst>
          </p:cNvPr>
          <p:cNvSpPr txBox="1"/>
          <p:nvPr/>
        </p:nvSpPr>
        <p:spPr>
          <a:xfrm>
            <a:off x="2059122" y="347404"/>
            <a:ext cx="1013287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00" h="0"/>
              <a:bevelB w="0" h="0"/>
            </a:sp3d>
          </a:bodyPr>
          <a:lstStyle/>
          <a:p>
            <a:r>
              <a:rPr lang="en-IN" sz="40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Bluestock</a:t>
            </a:r>
            <a:r>
              <a:rPr lang="en-IN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 Mutual Fund Analytics Capstone</a:t>
            </a:r>
            <a:endParaRPr lang="en-US" sz="40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1026" name="Picture 2" descr="Flask SVG and transparent PNG icons ...">
            <a:extLst>
              <a:ext uri="{FF2B5EF4-FFF2-40B4-BE49-F238E27FC236}">
                <a16:creationId xmlns:a16="http://schemas.microsoft.com/office/drawing/2014/main" id="{87535A40-A025-E599-B8E0-FC6C0935E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936" y="2519920"/>
            <a:ext cx="653586" cy="6535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1975CA-55C3-20DE-0B38-E67862AB9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1008" y="2517551"/>
            <a:ext cx="772056" cy="68481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5FCC8D-5CCD-378D-3B9F-47896049EE1E}"/>
              </a:ext>
            </a:extLst>
          </p:cNvPr>
          <p:cNvSpPr/>
          <p:nvPr/>
        </p:nvSpPr>
        <p:spPr>
          <a:xfrm>
            <a:off x="5634512" y="1262309"/>
            <a:ext cx="1253968" cy="374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30A5A-BB2B-56FE-7965-3E92C587B79E}"/>
              </a:ext>
            </a:extLst>
          </p:cNvPr>
          <p:cNvSpPr txBox="1"/>
          <p:nvPr/>
        </p:nvSpPr>
        <p:spPr>
          <a:xfrm>
            <a:off x="5540322" y="1269686"/>
            <a:ext cx="1778447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50" dirty="0">
                <a:solidFill>
                  <a:schemeClr val="bg2">
                    <a:lumMod val="75000"/>
                  </a:schemeClr>
                </a:solidFill>
                <a:latin typeface="Agency FB" panose="020B0503020202020204" pitchFamily="34" charset="0"/>
              </a:rPr>
              <a:t>YodhaX</a:t>
            </a:r>
            <a:endParaRPr lang="en-IN" sz="2050" dirty="0">
              <a:solidFill>
                <a:schemeClr val="bg2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D1A30-BFFA-F67C-EDC9-A1155C570272}"/>
              </a:ext>
            </a:extLst>
          </p:cNvPr>
          <p:cNvSpPr txBox="1"/>
          <p:nvPr/>
        </p:nvSpPr>
        <p:spPr>
          <a:xfrm>
            <a:off x="6401311" y="2089555"/>
            <a:ext cx="2413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Jitesh Kumar(2nd year)</a:t>
            </a:r>
          </a:p>
          <a:p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693508-D508-D8D5-9577-BF866A377840}"/>
              </a:ext>
            </a:extLst>
          </p:cNvPr>
          <p:cNvSpPr/>
          <p:nvPr/>
        </p:nvSpPr>
        <p:spPr>
          <a:xfrm>
            <a:off x="1540565" y="1103243"/>
            <a:ext cx="9064487" cy="13369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F4A7AB-B44A-9C73-B05D-DA37E2B4BE8D}"/>
              </a:ext>
            </a:extLst>
          </p:cNvPr>
          <p:cNvSpPr txBox="1"/>
          <p:nvPr/>
        </p:nvSpPr>
        <p:spPr>
          <a:xfrm>
            <a:off x="2567492" y="1258237"/>
            <a:ext cx="62517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Bluestock</a:t>
            </a: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 Internship Program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Submitted By:</a:t>
            </a: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 Akshat Bansal</a:t>
            </a:r>
          </a:p>
          <a:p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53B10E-6D85-1D3F-B6BB-2081D010D4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948" y="3198093"/>
            <a:ext cx="8018858" cy="10233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D6538BA-31D5-9773-7AFB-666EF007AE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4095" y="4246163"/>
            <a:ext cx="3439935" cy="19264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E9ACAC-E61F-83E6-F6AE-5A464DCA47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133" y="295123"/>
            <a:ext cx="1129609" cy="84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0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0C2C7A-9931-4D5D-463F-282FBF0A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9" t="1185" r="1109" b="1611"/>
          <a:stretch>
            <a:fillRect/>
          </a:stretch>
        </p:blipFill>
        <p:spPr>
          <a:xfrm>
            <a:off x="1282045" y="110017"/>
            <a:ext cx="9964132" cy="66379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EB44E0-58B3-A55C-9CC1-3325B4DDF8E6}"/>
              </a:ext>
            </a:extLst>
          </p:cNvPr>
          <p:cNvSpPr/>
          <p:nvPr/>
        </p:nvSpPr>
        <p:spPr>
          <a:xfrm>
            <a:off x="8460014" y="3170583"/>
            <a:ext cx="1946256" cy="2672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F8659-99DE-0C46-BE72-247129A1EA91}"/>
              </a:ext>
            </a:extLst>
          </p:cNvPr>
          <p:cNvSpPr/>
          <p:nvPr/>
        </p:nvSpPr>
        <p:spPr>
          <a:xfrm>
            <a:off x="1489435" y="1423447"/>
            <a:ext cx="6570483" cy="46285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AD0A3-FB1F-90B9-A19B-7C27CD684CCA}"/>
              </a:ext>
            </a:extLst>
          </p:cNvPr>
          <p:cNvSpPr txBox="1"/>
          <p:nvPr/>
        </p:nvSpPr>
        <p:spPr>
          <a:xfrm>
            <a:off x="555493" y="1598681"/>
            <a:ext cx="73848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Problem Statement</a:t>
            </a:r>
          </a:p>
          <a:p>
            <a:endParaRPr lang="en-IN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Mutual fund investors and fund managers need data-driven insights to: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Evaluate fund performance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Understand investor </a:t>
            </a:r>
            <a:r>
              <a:rPr lang="en-IN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behavior</a:t>
            </a: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Monitor SIP growth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Compare risk-adjusted returns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Analyze</a:t>
            </a: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 market trends</a:t>
            </a:r>
          </a:p>
          <a:p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C4F15-F9C5-3C64-C9B9-6210FD648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14" y="2084555"/>
            <a:ext cx="873683" cy="285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CE8B64-89C3-F71D-D8F1-A3658BF84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91" y="2456114"/>
            <a:ext cx="932530" cy="2672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1FC04A-81BB-AC03-3E3E-B2EA1B8BE38B}"/>
              </a:ext>
            </a:extLst>
          </p:cNvPr>
          <p:cNvSpPr txBox="1"/>
          <p:nvPr/>
        </p:nvSpPr>
        <p:spPr>
          <a:xfrm>
            <a:off x="8410252" y="3119520"/>
            <a:ext cx="319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</a:rPr>
              <a:t>AI/ML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A7CDCA-1F17-CF3F-DA62-A9A723ECD0C6}"/>
              </a:ext>
            </a:extLst>
          </p:cNvPr>
          <p:cNvSpPr/>
          <p:nvPr/>
        </p:nvSpPr>
        <p:spPr>
          <a:xfrm>
            <a:off x="8460014" y="3519630"/>
            <a:ext cx="561438" cy="2672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CE5CD-2038-8FB0-1C91-1C2BC61B6ECA}"/>
              </a:ext>
            </a:extLst>
          </p:cNvPr>
          <p:cNvSpPr txBox="1"/>
          <p:nvPr/>
        </p:nvSpPr>
        <p:spPr>
          <a:xfrm>
            <a:off x="8394502" y="3463117"/>
            <a:ext cx="2156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</a:rPr>
              <a:t>Open Innovation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F98B7-9216-552B-4DC4-4830ABEB607E}"/>
              </a:ext>
            </a:extLst>
          </p:cNvPr>
          <p:cNvSpPr/>
          <p:nvPr/>
        </p:nvSpPr>
        <p:spPr>
          <a:xfrm>
            <a:off x="8294900" y="4760843"/>
            <a:ext cx="2951277" cy="20124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0468E-C76C-473E-3C4D-684851830FE9}"/>
              </a:ext>
            </a:extLst>
          </p:cNvPr>
          <p:cNvSpPr/>
          <p:nvPr/>
        </p:nvSpPr>
        <p:spPr>
          <a:xfrm>
            <a:off x="8187078" y="4180725"/>
            <a:ext cx="2893092" cy="6001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A2844-771B-E012-6E53-7C57B8D50881}"/>
              </a:ext>
            </a:extLst>
          </p:cNvPr>
          <p:cNvSpPr txBox="1"/>
          <p:nvPr/>
        </p:nvSpPr>
        <p:spPr>
          <a:xfrm>
            <a:off x="3083615" y="2334473"/>
            <a:ext cx="61672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 Statement</a:t>
            </a:r>
          </a:p>
          <a:p>
            <a:pPr>
              <a:buNone/>
            </a:pPr>
            <a:r>
              <a:rPr lang="en-IN" dirty="0"/>
              <a:t>Mutual fund investors and fund managers need data-driven insights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 fund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Understand investor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 SIP growth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risk-adjusted returns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market trends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84B898-2131-BC38-03E3-8900BF178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648" y="2127054"/>
            <a:ext cx="257211" cy="6001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8CFBD8-62C0-E1AA-6AAC-086D9F30BE9C}"/>
              </a:ext>
            </a:extLst>
          </p:cNvPr>
          <p:cNvSpPr txBox="1"/>
          <p:nvPr/>
        </p:nvSpPr>
        <p:spPr>
          <a:xfrm>
            <a:off x="8167740" y="4070049"/>
            <a:ext cx="4024260" cy="271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Objectives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✔ Build ETL pipeline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✔ Perform EDA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✔ Develop dashboard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✔ Implement advanced analytics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✔ Generate actionable insights</a:t>
            </a:r>
          </a:p>
          <a:p>
            <a:pPr>
              <a:spcBef>
                <a:spcPts val="300"/>
              </a:spcBef>
            </a:pP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62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DFC1D8-785E-31E1-BFD3-2A6012E0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F77C1B-B0AC-7DCE-C7C1-9ADA585AD1C3}"/>
              </a:ext>
            </a:extLst>
          </p:cNvPr>
          <p:cNvSpPr txBox="1"/>
          <p:nvPr/>
        </p:nvSpPr>
        <p:spPr>
          <a:xfrm>
            <a:off x="1093304" y="258417"/>
            <a:ext cx="217666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Data Sources</a:t>
            </a:r>
          </a:p>
          <a:p>
            <a:endParaRPr lang="en-IN" sz="24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Data Used</a:t>
            </a:r>
          </a:p>
          <a:p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Fund Data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Fund Master 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Fund Performance 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NAV History </a:t>
            </a:r>
          </a:p>
          <a:p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F1F86-BFAD-4E41-F54C-BE7C8EA1AA50}"/>
              </a:ext>
            </a:extLst>
          </p:cNvPr>
          <p:cNvSpPr txBox="1"/>
          <p:nvPr/>
        </p:nvSpPr>
        <p:spPr>
          <a:xfrm>
            <a:off x="3269973" y="849775"/>
            <a:ext cx="24052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Investor Data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Transactions 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SIP Inflows </a:t>
            </a:r>
          </a:p>
          <a:p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Market Data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Benchmark Indices </a:t>
            </a:r>
          </a:p>
          <a:p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Portfolio Holdings</a:t>
            </a:r>
          </a:p>
          <a:p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6919F-B89A-1398-BB74-D48026E6CCE3}"/>
              </a:ext>
            </a:extLst>
          </p:cNvPr>
          <p:cNvSpPr txBox="1"/>
          <p:nvPr/>
        </p:nvSpPr>
        <p:spPr>
          <a:xfrm>
            <a:off x="5946913" y="367748"/>
            <a:ext cx="48072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Database Tables</a:t>
            </a:r>
          </a:p>
          <a:p>
            <a:endParaRPr lang="en-IN" sz="24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fact_fund_master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fact_performance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fact_nav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fact_transactions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fact_aum_house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fact_monthly_sip_inflows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fact_category_inflows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fact_industry_folio_count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fact_portfolio_holdings</a:t>
            </a:r>
            <a:b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IN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fact_benchmark_indices</a:t>
            </a:r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0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0549E2-C778-F076-36AD-48B9E893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04" t="21926" r="8519" b="7111"/>
          <a:stretch>
            <a:fillRect/>
          </a:stretch>
        </p:blipFill>
        <p:spPr>
          <a:xfrm>
            <a:off x="0" y="-1"/>
            <a:ext cx="12192000" cy="6859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C6E8C7-0755-68B3-B6C6-7CF696A76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165" y="0"/>
            <a:ext cx="126366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4AC0D9-26EC-8343-2ED2-D28B53AC9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AEBDA0-601A-4412-5077-F518417914E2}"/>
              </a:ext>
            </a:extLst>
          </p:cNvPr>
          <p:cNvSpPr txBox="1"/>
          <p:nvPr/>
        </p:nvSpPr>
        <p:spPr>
          <a:xfrm>
            <a:off x="218660" y="5068957"/>
            <a:ext cx="4293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4521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09DF54FF-620D-8736-46C6-8EA8FD380B5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152400" y="106156"/>
            <a:ext cx="49364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IN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EDA Highlight #1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Industry Overview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Key Findings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Industry AUM increased consistently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SIP inflows reached record highs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Total folios showed strong growth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Mutual fund participation expanded rapidly </a:t>
            </a:r>
          </a:p>
          <a:p>
            <a:pPr marL="0" indent="0">
              <a:buNone/>
            </a:pPr>
            <a:r>
              <a:rPr lang="en-IN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KPIs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Industry AUM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Monthly SIP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Total Folios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Number of Schemes</a:t>
            </a:r>
          </a:p>
          <a:p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BA5BA-B1A0-409D-4E80-F5A390F1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522" y="305128"/>
            <a:ext cx="6527883" cy="3004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B059FC-C45C-EF70-70FB-CEA0DCCFE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835" y="3548270"/>
            <a:ext cx="6531196" cy="28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4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C20B7-E41B-C0A2-A6B5-B1EF66C2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979A84A-28BC-C964-AA7F-C5D5FAA7549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152400" y="106156"/>
            <a:ext cx="49364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gency FB" panose="020B0503020202020204" pitchFamily="34" charset="0"/>
              </a:rPr>
              <a:t>EDA Highlight #2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Fund Performance Analysis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Metrics </a:t>
            </a:r>
            <a:r>
              <a:rPr lang="en-IN" dirty="0" err="1">
                <a:solidFill>
                  <a:schemeClr val="bg1"/>
                </a:solidFill>
                <a:latin typeface="Agency FB" panose="020B0503020202020204" pitchFamily="34" charset="0"/>
              </a:rPr>
              <a:t>Analyzed</a:t>
            </a:r>
            <a:endParaRPr lang="en-IN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Returns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Alpha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Beta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Sharpe Ratio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Expense Ratio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gency FB" panose="020B0503020202020204" pitchFamily="34" charset="0"/>
              </a:rPr>
              <a:t>Findings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Large-cap funds showed lower volatility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Moderate-risk funds had balanced returns </a:t>
            </a:r>
          </a:p>
          <a:p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High Sharpe funds outperformed peers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F490F-084A-D8FB-A898-2C9F2845E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835" y="333921"/>
            <a:ext cx="6531196" cy="3060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0D2A6C-3DE7-D762-3471-A80561582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836" y="3603783"/>
            <a:ext cx="6531196" cy="277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2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E8D8B-E513-9B9D-F7E5-5AD3756F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5AF9E5F-F394-E68E-3CA0-AD048E0D72F9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152400" y="106156"/>
            <a:ext cx="49364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IN" sz="32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Performance Metrics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Risk Analytics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Value at Risk (</a:t>
            </a:r>
            <a:r>
              <a:rPr lang="en-IN" sz="32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VaR</a:t>
            </a: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)</a:t>
            </a:r>
          </a:p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Measures potential loss at 95% confidence.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Conditional </a:t>
            </a:r>
            <a:r>
              <a:rPr lang="en-IN" sz="32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VaR</a:t>
            </a:r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 (CVaR)</a:t>
            </a:r>
          </a:p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Measures average loss beyond </a:t>
            </a:r>
            <a:r>
              <a:rPr lang="en-IN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VaR.</a:t>
            </a:r>
            <a:endParaRPr lang="en-IN" sz="3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sz="32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Key Findings</a:t>
            </a:r>
          </a:p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Some funds showed higher downside risk. </a:t>
            </a:r>
          </a:p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Equity-heavy funds had higher </a:t>
            </a:r>
            <a:r>
              <a:rPr lang="en-IN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VaR.</a:t>
            </a:r>
            <a:endParaRPr lang="en-IN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AFEAC-3D9C-3A32-0DC5-3545F9BA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584" y="304619"/>
            <a:ext cx="6751982" cy="2929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12DEC3-EC91-A151-8719-BB3008B21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583" y="3386055"/>
            <a:ext cx="6751981" cy="31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8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B2E567F-D02F-824A-CCAE-48BA1246B3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375" t="19014" b="62106"/>
          <a:stretch>
            <a:fillRect/>
          </a:stretch>
        </p:blipFill>
        <p:spPr>
          <a:xfrm>
            <a:off x="2179982" y="1368629"/>
            <a:ext cx="1905000" cy="83706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7FB832-B79F-0D8A-DA6C-76FAA40D9E09}"/>
              </a:ext>
            </a:extLst>
          </p:cNvPr>
          <p:cNvSpPr/>
          <p:nvPr/>
        </p:nvSpPr>
        <p:spPr>
          <a:xfrm>
            <a:off x="4782378" y="1218337"/>
            <a:ext cx="3061253" cy="3836504"/>
          </a:xfrm>
          <a:prstGeom prst="round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4B99-8BF2-BFE9-C881-68A73A6D8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83" y="1358485"/>
            <a:ext cx="295854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6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Performance Metrics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Agency FB" panose="020B0503020202020204" pitchFamily="34" charset="0"/>
              </a:rPr>
              <a:t>Advanced Analytics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Agency FB" panose="020B0503020202020204" pitchFamily="34" charset="0"/>
              </a:rPr>
              <a:t>Rolling Sharpe Ratio</a:t>
            </a:r>
          </a:p>
          <a:p>
            <a:r>
              <a:rPr lang="en-IN" sz="1600" dirty="0">
                <a:solidFill>
                  <a:schemeClr val="bg1"/>
                </a:solidFill>
                <a:latin typeface="Agency FB" panose="020B0503020202020204" pitchFamily="34" charset="0"/>
              </a:rPr>
              <a:t>Measures changing risk-adjusted performance.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Agency FB" panose="020B0503020202020204" pitchFamily="34" charset="0"/>
              </a:rPr>
              <a:t>HHI Concentration Index</a:t>
            </a:r>
          </a:p>
          <a:p>
            <a:r>
              <a:rPr lang="en-IN" sz="1600" dirty="0">
                <a:solidFill>
                  <a:schemeClr val="bg1"/>
                </a:solidFill>
                <a:latin typeface="Agency FB" panose="020B0503020202020204" pitchFamily="34" charset="0"/>
              </a:rPr>
              <a:t>Measures portfolio diversification.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Agency FB" panose="020B0503020202020204" pitchFamily="34" charset="0"/>
              </a:rPr>
              <a:t>Findings</a:t>
            </a:r>
          </a:p>
          <a:p>
            <a:r>
              <a:rPr lang="en-IN" sz="1600" dirty="0">
                <a:solidFill>
                  <a:schemeClr val="bg1"/>
                </a:solidFill>
                <a:latin typeface="Agency FB" panose="020B0503020202020204" pitchFamily="34" charset="0"/>
              </a:rPr>
              <a:t>Diversified funds had lower HHI. </a:t>
            </a:r>
          </a:p>
          <a:p>
            <a:r>
              <a:rPr lang="en-IN" sz="1600" dirty="0">
                <a:solidFill>
                  <a:schemeClr val="bg1"/>
                </a:solidFill>
                <a:latin typeface="Agency FB" panose="020B0503020202020204" pitchFamily="34" charset="0"/>
              </a:rPr>
              <a:t>High-HHI funds carried concentration risk.</a:t>
            </a:r>
          </a:p>
          <a:p>
            <a:endParaRPr lang="en-IN" sz="1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220307-4833-2023-0CE2-82347208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28" t="6467" r="32863" b="1075"/>
          <a:stretch>
            <a:fillRect/>
          </a:stretch>
        </p:blipFill>
        <p:spPr>
          <a:xfrm>
            <a:off x="702037" y="2205692"/>
            <a:ext cx="3382945" cy="2656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C8ED5-42F4-FEC0-F824-4E50723B7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99" b="81162"/>
          <a:stretch>
            <a:fillRect/>
          </a:stretch>
        </p:blipFill>
        <p:spPr>
          <a:xfrm>
            <a:off x="702037" y="1358485"/>
            <a:ext cx="2097157" cy="835189"/>
          </a:xfrm>
          <a:prstGeom prst="rect">
            <a:avLst/>
          </a:prstGeom>
        </p:spPr>
      </p:pic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4F9F8FE2-4017-2E4D-54E6-2858E84B9D96}"/>
              </a:ext>
            </a:extLst>
          </p:cNvPr>
          <p:cNvSpPr/>
          <p:nvPr/>
        </p:nvSpPr>
        <p:spPr>
          <a:xfrm rot="5400000">
            <a:off x="3967782" y="3708502"/>
            <a:ext cx="781878" cy="3474557"/>
          </a:xfrm>
          <a:prstGeom prst="curvedLeftArrow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272F61-E3E0-385C-9828-392454120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57207" y="1961233"/>
            <a:ext cx="3686213" cy="2501006"/>
          </a:xfrm>
          <a:prstGeom prst="rect">
            <a:avLst/>
          </a:prstGeom>
        </p:spPr>
      </p:pic>
      <p:sp>
        <p:nvSpPr>
          <p:cNvPr id="18" name="Arrow: Curved Up 17">
            <a:extLst>
              <a:ext uri="{FF2B5EF4-FFF2-40B4-BE49-F238E27FC236}">
                <a16:creationId xmlns:a16="http://schemas.microsoft.com/office/drawing/2014/main" id="{824639C0-C147-0C94-7CCE-FE36B8E507E5}"/>
              </a:ext>
            </a:extLst>
          </p:cNvPr>
          <p:cNvSpPr/>
          <p:nvPr/>
        </p:nvSpPr>
        <p:spPr>
          <a:xfrm rot="10800000">
            <a:off x="6472030" y="429831"/>
            <a:ext cx="3934239" cy="781879"/>
          </a:xfrm>
          <a:prstGeom prst="curvedUpArrow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48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2315A-3B0A-09BE-1DC3-5A500971D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17" y="487271"/>
            <a:ext cx="5562600" cy="5489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54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Dashboard Showcase</a:t>
            </a:r>
            <a:endParaRPr lang="en-IN" sz="2000" b="1" u="sng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sz="2000" b="1" u="sng" dirty="0">
                <a:solidFill>
                  <a:srgbClr val="000000"/>
                </a:solidFill>
                <a:latin typeface="Agency FB" panose="020B0503020202020204" pitchFamily="34" charset="0"/>
              </a:rPr>
              <a:t>.</a:t>
            </a:r>
            <a:endParaRPr lang="en-IN" sz="5400" b="1" u="sng" dirty="0">
              <a:solidFill>
                <a:srgbClr val="000000"/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Industry Overview Dashboard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Features:</a:t>
            </a:r>
          </a:p>
          <a:p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Industry KPIs </a:t>
            </a:r>
          </a:p>
          <a:p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AUM Trends </a:t>
            </a:r>
          </a:p>
          <a:p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Top Fund Houses </a:t>
            </a:r>
          </a:p>
          <a:p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SIP Analysis</a:t>
            </a:r>
          </a:p>
          <a:p>
            <a:endParaRPr lang="en-IN" sz="3600" dirty="0">
              <a:solidFill>
                <a:schemeClr val="bg1"/>
              </a:solidFill>
            </a:endParaRPr>
          </a:p>
          <a:p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D366D-58E1-F60A-2454-1BD742949B6A}"/>
              </a:ext>
            </a:extLst>
          </p:cNvPr>
          <p:cNvSpPr txBox="1"/>
          <p:nvPr/>
        </p:nvSpPr>
        <p:spPr>
          <a:xfrm>
            <a:off x="6867940" y="487271"/>
            <a:ext cx="476084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Analytics Dashboards</a:t>
            </a:r>
          </a:p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Fund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Risk vs Return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Fund Scorecards </a:t>
            </a:r>
          </a:p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Investor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State Analysis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T30 vs B30 </a:t>
            </a:r>
          </a:p>
          <a:p>
            <a:r>
              <a:rPr lang="en-IN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Market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Benchmark Tracking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SIP Growth</a:t>
            </a:r>
          </a:p>
          <a:p>
            <a:endParaRPr lang="en-IN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D8E56E-D409-A55E-7D27-56DDE8E39BEC}"/>
              </a:ext>
            </a:extLst>
          </p:cNvPr>
          <p:cNvCxnSpPr/>
          <p:nvPr/>
        </p:nvCxnSpPr>
        <p:spPr>
          <a:xfrm>
            <a:off x="6096000" y="288235"/>
            <a:ext cx="29817" cy="62119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3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AE69-6F50-7BBE-C0C6-E11FCCCB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3326BE-013B-349B-C16E-E156C92E7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31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0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7AEE-3BAF-6B98-AB38-444C3E1C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948EE-72DE-D084-84E1-801E34AAC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2C25-7282-4833-15DC-8AC0923A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F2A4-7C2C-2C8B-A119-EFC1CD1FB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9FFF1-8429-77A9-6F3B-54A5E5FBD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64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67807-C243-B1D4-2B06-15816BC51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86406"/>
            <a:ext cx="10248900" cy="67715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F29F5E-1C1C-2026-82CB-AF255C4DF9FE}"/>
              </a:ext>
            </a:extLst>
          </p:cNvPr>
          <p:cNvSpPr/>
          <p:nvPr/>
        </p:nvSpPr>
        <p:spPr>
          <a:xfrm>
            <a:off x="1200150" y="419100"/>
            <a:ext cx="2505075" cy="619125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ED0DB-91E9-B478-CD1B-D36807E141CF}"/>
              </a:ext>
            </a:extLst>
          </p:cNvPr>
          <p:cNvSpPr txBox="1"/>
          <p:nvPr/>
        </p:nvSpPr>
        <p:spPr>
          <a:xfrm>
            <a:off x="209550" y="219075"/>
            <a:ext cx="3838575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Insight 1</a:t>
            </a:r>
          </a:p>
          <a:p>
            <a:r>
              <a:rPr lang="en-IN" sz="2800" dirty="0">
                <a:solidFill>
                  <a:schemeClr val="bg1"/>
                </a:solidFill>
                <a:latin typeface="Agency FB" panose="020B0503020202020204" pitchFamily="34" charset="0"/>
              </a:rPr>
              <a:t>Industry SIP inflows continue to grow.</a:t>
            </a:r>
          </a:p>
          <a:p>
            <a:r>
              <a:rPr lang="en-IN" sz="2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Insight 2</a:t>
            </a:r>
          </a:p>
          <a:p>
            <a:r>
              <a:rPr lang="en-IN" sz="2800" dirty="0">
                <a:solidFill>
                  <a:schemeClr val="bg1"/>
                </a:solidFill>
                <a:latin typeface="Agency FB" panose="020B0503020202020204" pitchFamily="34" charset="0"/>
              </a:rPr>
              <a:t>Moderate-risk funds generated the best risk-adjusted returns.</a:t>
            </a:r>
          </a:p>
          <a:p>
            <a:r>
              <a:rPr lang="en-IN" sz="2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Insight 3</a:t>
            </a:r>
          </a:p>
          <a:p>
            <a:r>
              <a:rPr lang="en-IN" sz="2800" dirty="0">
                <a:solidFill>
                  <a:schemeClr val="bg1"/>
                </a:solidFill>
                <a:latin typeface="Agency FB" panose="020B0503020202020204" pitchFamily="34" charset="0"/>
              </a:rPr>
              <a:t>T30 cities dominate mutual fund investments.</a:t>
            </a:r>
          </a:p>
          <a:p>
            <a:r>
              <a:rPr lang="en-IN" sz="2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Insight 4</a:t>
            </a:r>
          </a:p>
          <a:p>
            <a:r>
              <a:rPr lang="en-IN" sz="2800" dirty="0">
                <a:solidFill>
                  <a:schemeClr val="bg1"/>
                </a:solidFill>
                <a:latin typeface="Agency FB" panose="020B0503020202020204" pitchFamily="34" charset="0"/>
              </a:rPr>
              <a:t>Some portfolios show high concentration risk.</a:t>
            </a:r>
          </a:p>
          <a:p>
            <a:r>
              <a:rPr lang="en-IN" sz="2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Insight 5</a:t>
            </a:r>
          </a:p>
          <a:p>
            <a:r>
              <a:rPr lang="en-IN" sz="2800" dirty="0">
                <a:solidFill>
                  <a:schemeClr val="bg1"/>
                </a:solidFill>
                <a:latin typeface="Agency FB" panose="020B0503020202020204" pitchFamily="34" charset="0"/>
              </a:rPr>
              <a:t>Investor continuity improves long-term wealth creation.</a:t>
            </a:r>
          </a:p>
          <a:p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70A68-D45C-0840-4556-2A28C5E51A07}"/>
              </a:ext>
            </a:extLst>
          </p:cNvPr>
          <p:cNvSpPr/>
          <p:nvPr/>
        </p:nvSpPr>
        <p:spPr>
          <a:xfrm>
            <a:off x="8629650" y="561975"/>
            <a:ext cx="3352800" cy="604837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FD3154-5F34-901D-4391-CFCD64518345}"/>
              </a:ext>
            </a:extLst>
          </p:cNvPr>
          <p:cNvSpPr/>
          <p:nvPr/>
        </p:nvSpPr>
        <p:spPr>
          <a:xfrm>
            <a:off x="4119716" y="1278194"/>
            <a:ext cx="4324197" cy="323481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663F97-BBDD-EE82-B762-9C2B5095C5B2}"/>
              </a:ext>
            </a:extLst>
          </p:cNvPr>
          <p:cNvSpPr/>
          <p:nvPr/>
        </p:nvSpPr>
        <p:spPr>
          <a:xfrm>
            <a:off x="3795252" y="4621161"/>
            <a:ext cx="4945625" cy="215043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C4D60-1835-3899-F9FE-5D81FDA7E6A4}"/>
              </a:ext>
            </a:extLst>
          </p:cNvPr>
          <p:cNvSpPr txBox="1"/>
          <p:nvPr/>
        </p:nvSpPr>
        <p:spPr>
          <a:xfrm>
            <a:off x="8300891" y="204580"/>
            <a:ext cx="398635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A few leading fund houses manage a significant portion of the industry's total AUM, highlighting strong investor trust in established asset management companies.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 Moderate-risk funds delivered better risk-adjusted performance than several high-risk funds, as reflected by higher Sharpe and Sortino ratios.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Agency FB" panose="020B0503020202020204" pitchFamily="34" charset="0"/>
              </a:rPr>
              <a:t>Investment activity was concentrated among middle-aged investors and T30 cities, indicating stronger mutual fund adoption in urban regions.</a:t>
            </a:r>
            <a:endParaRPr lang="en-IN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16" name="Picture 10" descr="Laptop On Black Background: Over 187,162 Royalty-Free Licensable Stock  Illustrations &amp; Drawings | Shutterstock">
            <a:extLst>
              <a:ext uri="{FF2B5EF4-FFF2-40B4-BE49-F238E27FC236}">
                <a16:creationId xmlns:a16="http://schemas.microsoft.com/office/drawing/2014/main" id="{7EBF8F12-41C2-1995-F374-58EFDB95E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8" t="19862" r="17551" b="16360"/>
          <a:stretch>
            <a:fillRect/>
          </a:stretch>
        </p:blipFill>
        <p:spPr bwMode="auto">
          <a:xfrm>
            <a:off x="3795252" y="1334168"/>
            <a:ext cx="4224798" cy="295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C9705D-12C1-6B22-F012-F3EA7907E142}"/>
              </a:ext>
            </a:extLst>
          </p:cNvPr>
          <p:cNvSpPr/>
          <p:nvPr/>
        </p:nvSpPr>
        <p:spPr>
          <a:xfrm>
            <a:off x="4138152" y="4513006"/>
            <a:ext cx="4083006" cy="209734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E7E2C-33DD-F277-CF24-E262477F020B}"/>
              </a:ext>
            </a:extLst>
          </p:cNvPr>
          <p:cNvSpPr txBox="1"/>
          <p:nvPr/>
        </p:nvSpPr>
        <p:spPr>
          <a:xfrm>
            <a:off x="3732520" y="4632452"/>
            <a:ext cx="45771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</a:rPr>
              <a:t>We prioritize </a:t>
            </a:r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precision and safety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</a:rPr>
              <a:t>. Our system is rigorously designed to provide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highly accurate information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</a:rPr>
              <a:t>you can trust, minimizing errors and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focusing on reliable guidance.</a:t>
            </a:r>
          </a:p>
          <a:p>
            <a:endParaRPr lang="en-IN" dirty="0"/>
          </a:p>
        </p:txBody>
      </p:sp>
      <p:pic>
        <p:nvPicPr>
          <p:cNvPr id="2050" name="Picture 2" descr="HealthCare Chatbot using AI | Thinkitive">
            <a:extLst>
              <a:ext uri="{FF2B5EF4-FFF2-40B4-BE49-F238E27FC236}">
                <a16:creationId xmlns:a16="http://schemas.microsoft.com/office/drawing/2014/main" id="{3E4B51EA-CBE8-E97B-4889-8E09C739F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617" y="1709823"/>
            <a:ext cx="2818826" cy="180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35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82DE-AA7D-C2D4-B2AF-9AD7602CD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5559"/>
            <a:ext cx="10736484" cy="58368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500" b="1" dirty="0">
                <a:solidFill>
                  <a:schemeClr val="bg1"/>
                </a:solidFill>
                <a:latin typeface="Agency FB" panose="020B0503020202020204" pitchFamily="34" charset="0"/>
              </a:rPr>
              <a:t>Thank You</a:t>
            </a:r>
          </a:p>
          <a:p>
            <a:pPr marL="0" indent="0" algn="ctr">
              <a:buNone/>
            </a:pPr>
            <a:endParaRPr lang="en-IN" sz="65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endParaRPr lang="en-IN" sz="36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Submitted By</a:t>
            </a:r>
          </a:p>
          <a:p>
            <a:pPr marL="0" indent="0" algn="ctr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Akshat Bansal</a:t>
            </a:r>
          </a:p>
          <a:p>
            <a:pPr marL="0" indent="0" algn="ctr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Contact</a:t>
            </a:r>
          </a:p>
          <a:p>
            <a:pPr marL="0" indent="0" algn="ctr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</a:rPr>
              <a:t>GitHub Repository Link</a:t>
            </a:r>
          </a:p>
          <a:p>
            <a:pPr marL="0" indent="0" algn="ctr">
              <a:buNone/>
            </a:pPr>
            <a:r>
              <a:rPr lang="en-IN" sz="3600" dirty="0">
                <a:solidFill>
                  <a:schemeClr val="bg1"/>
                </a:solidFill>
                <a:latin typeface="Agency FB" panose="020B0503020202020204" pitchFamily="34" charset="0"/>
                <a:hlinkClick r:id="rId2"/>
              </a:rPr>
              <a:t>https://github.com/Akshat-1508/bluestock_mf_capstone</a:t>
            </a:r>
            <a:endParaRPr lang="en-IN" sz="36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endParaRPr lang="en-IN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79DB0-F6F2-9164-7515-018070E73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" y="1586177"/>
            <a:ext cx="12192000" cy="15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8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553</Words>
  <Application>Microsoft Office PowerPoint</Application>
  <PresentationFormat>Widescreen</PresentationFormat>
  <Paragraphs>138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Agency FB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akshat29ma@gmail.com</dc:creator>
  <cp:lastModifiedBy>akshat29ma@gmail.com</cp:lastModifiedBy>
  <cp:revision>24</cp:revision>
  <cp:lastPrinted>2025-09-26T09:04:50Z</cp:lastPrinted>
  <dcterms:created xsi:type="dcterms:W3CDTF">2025-09-06T18:46:45Z</dcterms:created>
  <dcterms:modified xsi:type="dcterms:W3CDTF">2026-06-11T20:22:00Z</dcterms:modified>
</cp:coreProperties>
</file>